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147472796" r:id="rId2"/>
    <p:sldId id="2147472804" r:id="rId3"/>
    <p:sldId id="2147472799" r:id="rId4"/>
    <p:sldId id="2147472806" r:id="rId5"/>
    <p:sldId id="2147472805" r:id="rId6"/>
    <p:sldId id="2147472812" r:id="rId7"/>
    <p:sldId id="2147472807" r:id="rId8"/>
    <p:sldId id="1448942542" r:id="rId9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 Siva X" userId="ee410e55-285e-4cee-ab43-a776bf48df85" providerId="ADAL" clId="{8BB14162-4B9C-4B88-895D-278FB142535F}"/>
    <pc:docChg chg="delSld">
      <pc:chgData name="R Siva X" userId="ee410e55-285e-4cee-ab43-a776bf48df85" providerId="ADAL" clId="{8BB14162-4B9C-4B88-895D-278FB142535F}" dt="2026-07-07T04:54:09.508" v="0" actId="47"/>
      <pc:docMkLst>
        <pc:docMk/>
      </pc:docMkLst>
      <pc:sldChg chg="del">
        <pc:chgData name="R Siva X" userId="ee410e55-285e-4cee-ab43-a776bf48df85" providerId="ADAL" clId="{8BB14162-4B9C-4B88-895D-278FB142535F}" dt="2026-07-07T04:54:09.508" v="0" actId="47"/>
        <pc:sldMkLst>
          <pc:docMk/>
          <pc:sldMk cId="3709959988" sldId="270"/>
        </pc:sldMkLst>
      </pc:sldChg>
      <pc:sldChg chg="del">
        <pc:chgData name="R Siva X" userId="ee410e55-285e-4cee-ab43-a776bf48df85" providerId="ADAL" clId="{8BB14162-4B9C-4B88-895D-278FB142535F}" dt="2026-07-07T04:54:09.508" v="0" actId="47"/>
        <pc:sldMkLst>
          <pc:docMk/>
          <pc:sldMk cId="3856808023" sldId="2147472810"/>
        </pc:sldMkLst>
      </pc:sldChg>
      <pc:sldChg chg="del">
        <pc:chgData name="R Siva X" userId="ee410e55-285e-4cee-ab43-a776bf48df85" providerId="ADAL" clId="{8BB14162-4B9C-4B88-895D-278FB142535F}" dt="2026-07-07T04:54:09.508" v="0" actId="47"/>
        <pc:sldMkLst>
          <pc:docMk/>
          <pc:sldMk cId="506401440" sldId="2147472811"/>
        </pc:sldMkLst>
      </pc:sldChg>
      <pc:sldChg chg="del">
        <pc:chgData name="R Siva X" userId="ee410e55-285e-4cee-ab43-a776bf48df85" providerId="ADAL" clId="{8BB14162-4B9C-4B88-895D-278FB142535F}" dt="2026-07-07T04:54:09.508" v="0" actId="47"/>
        <pc:sldMkLst>
          <pc:docMk/>
          <pc:sldMk cId="993580723" sldId="2147473713"/>
        </pc:sldMkLst>
      </pc:sldChg>
      <pc:sldChg chg="del">
        <pc:chgData name="R Siva X" userId="ee410e55-285e-4cee-ab43-a776bf48df85" providerId="ADAL" clId="{8BB14162-4B9C-4B88-895D-278FB142535F}" dt="2026-07-07T04:54:09.508" v="0" actId="47"/>
        <pc:sldMkLst>
          <pc:docMk/>
          <pc:sldMk cId="1343933107" sldId="214747371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ericsson-my.sharepoint.com/personal/r_x_siva_ericsson_com/Documents/Monthly_Savings_Report_202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ericsson-my.sharepoint.com/personal/r_x_siva_ericsson_com/Documents/Monthly_Savings_Report_202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Monetization Savings in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'Monthly Data 2026'!$H$2</c:f>
              <c:strCache>
                <c:ptCount val="1"/>
                <c:pt idx="0">
                  <c:v>Total Savings - Billing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'Monthly Data 2026'!$A$3:$A$4</c:f>
              <c:strCache>
                <c:ptCount val="2"/>
                <c:pt idx="0">
                  <c:v>Jan</c:v>
                </c:pt>
                <c:pt idx="1">
                  <c:v>Feb</c:v>
                </c:pt>
              </c:strCache>
              <c:extLst/>
            </c:strRef>
          </c:cat>
          <c:val>
            <c:numRef>
              <c:f>'Monthly Data 2026'!$H$3:$H$4</c:f>
              <c:numCache>
                <c:formatCode>General</c:formatCode>
                <c:ptCount val="2"/>
                <c:pt idx="0">
                  <c:v>58.38</c:v>
                </c:pt>
                <c:pt idx="1">
                  <c:v>1379.1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7F68-4176-9F13-3B678BE0565F}"/>
            </c:ext>
          </c:extLst>
        </c:ser>
        <c:ser>
          <c:idx val="1"/>
          <c:order val="1"/>
          <c:tx>
            <c:strRef>
              <c:f>'Monthly Data 2026'!$P$2</c:f>
              <c:strCache>
                <c:ptCount val="1"/>
                <c:pt idx="0">
                  <c:v>Total Savings - Charging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'Monthly Data 2026'!$A$3:$A$4</c:f>
              <c:strCache>
                <c:ptCount val="2"/>
                <c:pt idx="0">
                  <c:v>Jan</c:v>
                </c:pt>
                <c:pt idx="1">
                  <c:v>Feb</c:v>
                </c:pt>
              </c:strCache>
              <c:extLst/>
            </c:strRef>
          </c:cat>
          <c:val>
            <c:numRef>
              <c:f>'Monthly Data 2026'!$P$3:$P$4</c:f>
              <c:numCache>
                <c:formatCode>General</c:formatCode>
                <c:ptCount val="2"/>
                <c:pt idx="0">
                  <c:v>4161.0499999999993</c:v>
                </c:pt>
                <c:pt idx="1">
                  <c:v>1032.71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7F68-4176-9F13-3B678BE0565F}"/>
            </c:ext>
          </c:extLst>
        </c:ser>
        <c:ser>
          <c:idx val="2"/>
          <c:order val="2"/>
          <c:tx>
            <c:strRef>
              <c:f>'Monthly Data 2026'!$X$2</c:f>
              <c:strCache>
                <c:ptCount val="1"/>
                <c:pt idx="0">
                  <c:v>Total Savings - SDC CS&amp;DFE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'Monthly Data 2026'!$A$3:$A$4</c:f>
              <c:strCache>
                <c:ptCount val="2"/>
                <c:pt idx="0">
                  <c:v>Jan</c:v>
                </c:pt>
                <c:pt idx="1">
                  <c:v>Feb</c:v>
                </c:pt>
              </c:strCache>
              <c:extLst/>
            </c:strRef>
          </c:cat>
          <c:val>
            <c:numRef>
              <c:f>'Monthly Data 2026'!$X$3:$X$4</c:f>
              <c:numCache>
                <c:formatCode>General</c:formatCode>
                <c:ptCount val="2"/>
                <c:pt idx="0">
                  <c:v>1476</c:v>
                </c:pt>
                <c:pt idx="1">
                  <c:v>2344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7F68-4176-9F13-3B678BE0565F}"/>
            </c:ext>
          </c:extLst>
        </c:ser>
        <c:ser>
          <c:idx val="3"/>
          <c:order val="3"/>
          <c:tx>
            <c:strRef>
              <c:f>'Monthly Data 2026'!$AF$2</c:f>
              <c:strCache>
                <c:ptCount val="1"/>
                <c:pt idx="0">
                  <c:v>Total Savings - SDC Billing&amp;MW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'Monthly Data 2026'!$A$3:$A$4</c:f>
              <c:strCache>
                <c:ptCount val="2"/>
                <c:pt idx="0">
                  <c:v>Jan</c:v>
                </c:pt>
                <c:pt idx="1">
                  <c:v>Feb</c:v>
                </c:pt>
              </c:strCache>
              <c:extLst/>
            </c:strRef>
          </c:cat>
          <c:val>
            <c:numRef>
              <c:f>'Monthly Data 2026'!$AF$3:$AF$4</c:f>
              <c:numCache>
                <c:formatCode>General</c:formatCode>
                <c:ptCount val="2"/>
                <c:pt idx="0">
                  <c:v>0</c:v>
                </c:pt>
                <c:pt idx="1">
                  <c:v>195.4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7F68-4176-9F13-3B678BE0565F}"/>
            </c:ext>
          </c:extLst>
        </c:ser>
        <c:ser>
          <c:idx val="4"/>
          <c:order val="4"/>
          <c:tx>
            <c:strRef>
              <c:f>'Monthly Data 2026'!$AI$2</c:f>
              <c:strCache>
                <c:ptCount val="1"/>
                <c:pt idx="0">
                  <c:v>Total Savings - Monetization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'Monthly Data 2026'!$A$3:$A$4</c:f>
              <c:strCache>
                <c:ptCount val="2"/>
                <c:pt idx="0">
                  <c:v>Jan</c:v>
                </c:pt>
                <c:pt idx="1">
                  <c:v>Feb</c:v>
                </c:pt>
              </c:strCache>
              <c:extLst/>
            </c:strRef>
          </c:cat>
          <c:val>
            <c:numRef>
              <c:f>'Monthly Data 2026'!$AI$3:$AI$4</c:f>
              <c:numCache>
                <c:formatCode>General</c:formatCode>
                <c:ptCount val="2"/>
                <c:pt idx="0">
                  <c:v>5695.4299999999994</c:v>
                </c:pt>
                <c:pt idx="1">
                  <c:v>4951.2099999999991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4-7F68-4176-9F13-3B678BE056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7026096"/>
        <c:axId val="467019856"/>
      </c:barChart>
      <c:catAx>
        <c:axId val="467026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019856"/>
        <c:crosses val="autoZero"/>
        <c:auto val="1"/>
        <c:lblAlgn val="ctr"/>
        <c:lblOffset val="100"/>
        <c:noMultiLvlLbl val="0"/>
      </c:catAx>
      <c:valAx>
        <c:axId val="467019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026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Monetization Savings %</a:t>
            </a:r>
          </a:p>
          <a:p>
            <a:pPr>
              <a:defRPr/>
            </a:pP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8"/>
          <c:order val="1"/>
          <c:tx>
            <c:strRef>
              <c:f>'Monthly Data 2026'!$J$2</c:f>
              <c:strCache>
                <c:ptCount val="1"/>
                <c:pt idx="0">
                  <c:v>Billing Savings %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('Monthly Data 2026'!$A$3:$A$4,'Monthly Data 2026'!$A$15)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YTD</c:v>
                </c:pt>
              </c:strCache>
              <c:extLst/>
            </c:strRef>
          </c:cat>
          <c:val>
            <c:numRef>
              <c:f>('Monthly Data 2026'!$J$3:$J$4,'Monthly Data 2026'!$J$15)</c:f>
              <c:numCache>
                <c:formatCode>0%</c:formatCode>
                <c:ptCount val="3"/>
                <c:pt idx="0">
                  <c:v>6.0555454710473772E-3</c:v>
                </c:pt>
                <c:pt idx="1">
                  <c:v>0.12871943251820048</c:v>
                </c:pt>
                <c:pt idx="2">
                  <c:v>7.0621353738070963E-2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BA9E-4646-BE81-5D7ACD375C80}"/>
            </c:ext>
          </c:extLst>
        </c:ser>
        <c:ser>
          <c:idx val="16"/>
          <c:order val="2"/>
          <c:tx>
            <c:strRef>
              <c:f>'Monthly Data 2026'!$R$2</c:f>
              <c:strCache>
                <c:ptCount val="1"/>
                <c:pt idx="0">
                  <c:v>Charging Savings %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80000"/>
                    <a:lumOff val="20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lumMod val="80000"/>
                    <a:lumOff val="20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80000"/>
                    <a:lumOff val="2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('Monthly Data 2026'!$A$3:$A$4,'Monthly Data 2026'!$A$15)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YTD</c:v>
                </c:pt>
              </c:strCache>
              <c:extLst/>
            </c:strRef>
          </c:cat>
          <c:val>
            <c:numRef>
              <c:f>('Monthly Data 2026'!$R$3:$R$4,'Monthly Data 2026'!$R$15)</c:f>
              <c:numCache>
                <c:formatCode>0%</c:formatCode>
                <c:ptCount val="3"/>
                <c:pt idx="0">
                  <c:v>0.11286039762402016</c:v>
                </c:pt>
                <c:pt idx="1">
                  <c:v>2.5878564626873154E-2</c:v>
                </c:pt>
                <c:pt idx="2">
                  <c:v>6.764910452621295E-2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BA9E-4646-BE81-5D7ACD375C80}"/>
            </c:ext>
          </c:extLst>
        </c:ser>
        <c:ser>
          <c:idx val="24"/>
          <c:order val="3"/>
          <c:tx>
            <c:strRef>
              <c:f>'Monthly Data 2026'!$Z$2</c:f>
              <c:strCache>
                <c:ptCount val="1"/>
                <c:pt idx="0">
                  <c:v>SDC CS&amp;DFE Savings %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('Monthly Data 2026'!$A$3:$A$4,'Monthly Data 2026'!$A$15)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YTD</c:v>
                </c:pt>
              </c:strCache>
              <c:extLst/>
            </c:strRef>
          </c:cat>
          <c:val>
            <c:numRef>
              <c:f>('Monthly Data 2026'!$Z$3:$Z$4,'Monthly Data 2026'!$Z$15)</c:f>
              <c:numCache>
                <c:formatCode>0%</c:formatCode>
                <c:ptCount val="3"/>
                <c:pt idx="0">
                  <c:v>8.179551122194513E-2</c:v>
                </c:pt>
                <c:pt idx="1">
                  <c:v>0.12086212230586779</c:v>
                </c:pt>
                <c:pt idx="2">
                  <c:v>0.10203263976067736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BA9E-4646-BE81-5D7ACD375C80}"/>
            </c:ext>
          </c:extLst>
        </c:ser>
        <c:ser>
          <c:idx val="32"/>
          <c:order val="4"/>
          <c:tx>
            <c:strRef>
              <c:f>'Monthly Data 2026'!$AH$2</c:f>
              <c:strCache>
                <c:ptCount val="1"/>
                <c:pt idx="0">
                  <c:v>SDC Billing&amp;MW Savings %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50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lumMod val="50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5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('Monthly Data 2026'!$A$3:$A$4,'Monthly Data 2026'!$A$15)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YTD</c:v>
                </c:pt>
              </c:strCache>
              <c:extLst/>
            </c:strRef>
          </c:cat>
          <c:val>
            <c:numRef>
              <c:f>('Monthly Data 2026'!$AH$3:$AH$4,'Monthly Data 2026'!$AH$15)</c:f>
              <c:numCache>
                <c:formatCode>0.00%</c:formatCode>
                <c:ptCount val="3"/>
                <c:pt idx="0">
                  <c:v>0</c:v>
                </c:pt>
                <c:pt idx="1">
                  <c:v>2.120639881921382E-2</c:v>
                </c:pt>
                <c:pt idx="2" formatCode="0%">
                  <c:v>1.1344082151125933E-2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BA9E-4646-BE81-5D7ACD375C80}"/>
            </c:ext>
          </c:extLst>
        </c:ser>
        <c:ser>
          <c:idx val="35"/>
          <c:order val="5"/>
          <c:tx>
            <c:strRef>
              <c:f>'Monthly Data 2026'!$AK$2</c:f>
              <c:strCache>
                <c:ptCount val="1"/>
                <c:pt idx="0">
                  <c:v>Monetization Savings %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lumMod val="50000"/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5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('Monthly Data 2026'!$A$3:$A$4,'Monthly Data 2026'!$A$15)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YTD</c:v>
                </c:pt>
              </c:strCache>
              <c:extLst/>
            </c:strRef>
          </c:cat>
          <c:val>
            <c:numRef>
              <c:f>('Monthly Data 2026'!$AK$3:$AK$4,'Monthly Data 2026'!$AK$15)</c:f>
              <c:numCache>
                <c:formatCode>0.00%</c:formatCode>
                <c:ptCount val="3"/>
                <c:pt idx="0">
                  <c:v>7.8486865432680783E-2</c:v>
                </c:pt>
                <c:pt idx="1">
                  <c:v>6.249302647289727E-2</c:v>
                </c:pt>
                <c:pt idx="2">
                  <c:v>7.0138930108972319E-2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4-BA9E-4646-BE81-5D7ACD375C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49754816"/>
        <c:axId val="549745696"/>
      </c:barChart>
      <c:lineChart>
        <c:grouping val="standard"/>
        <c:varyColors val="0"/>
        <c:ser>
          <c:idx val="0"/>
          <c:order val="0"/>
          <c:tx>
            <c:strRef>
              <c:f>'Monthly Data 2026'!$B$2</c:f>
              <c:strCache>
                <c:ptCount val="1"/>
                <c:pt idx="0">
                  <c:v>Monetization KPI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('Monthly Data 2026'!$A$3:$A$4,'Monthly Data 2026'!$A$15)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YTD</c:v>
                </c:pt>
              </c:strCache>
              <c:extLst/>
            </c:strRef>
          </c:cat>
          <c:val>
            <c:numRef>
              <c:f>('Monthly Data 2026'!$B$3:$B$4,'Monthly Data 2026'!$B$15)</c:f>
              <c:numCache>
                <c:formatCode>0.00%</c:formatCode>
                <c:ptCount val="3"/>
                <c:pt idx="0">
                  <c:v>0.16</c:v>
                </c:pt>
                <c:pt idx="1">
                  <c:v>0.16</c:v>
                </c:pt>
                <c:pt idx="2">
                  <c:v>0.16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5-BA9E-4646-BE81-5D7ACD375C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49754816"/>
        <c:axId val="549745696"/>
      </c:lineChart>
      <c:catAx>
        <c:axId val="549754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9745696"/>
        <c:crosses val="autoZero"/>
        <c:auto val="1"/>
        <c:lblAlgn val="ctr"/>
        <c:lblOffset val="100"/>
        <c:noMultiLvlLbl val="0"/>
      </c:catAx>
      <c:valAx>
        <c:axId val="549745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9754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3E8DA77-DDD1-4C62-A571-4B77D6A49589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14EE29F-A8A9-4503-A10D-41C5430EB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989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EE29F-A8A9-4503-A10D-41C5430EBB1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744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9BC75-2359-4F98-918A-7033C92AD48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13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593F1-72CE-95CD-D765-58FC686C1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FC2ACC-A06F-A181-89B4-461BD37F5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814D1-654A-F22A-98BE-EE8995EFE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D7F9C-9FBC-4E69-A39A-25404EB9B07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5807E-0547-6913-D63D-915631EC4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2CAAB-2688-4DC9-B4F5-8D5F8170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3680-74C9-4B88-8AAE-F42AB3C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85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C7318-1E91-EF3D-CF4E-DAE82A2C0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DE34C-C4AF-8B3E-1074-4FF764AE9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D97B8-F96C-A34F-2865-2C0016088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D7F9C-9FBC-4E69-A39A-25404EB9B07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9120F-3A99-E79C-8264-050EAEF29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88D0F-5D2D-9FE9-2EAE-B659B5EE5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3680-74C9-4B88-8AAE-F42AB3C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87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6D635-A76B-06DD-F668-02875AC31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B13E6-21B9-FB16-F90F-10B615B91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D57F6-9FC4-AF9B-F6D2-939098FEA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D7F9C-9FBC-4E69-A39A-25404EB9B07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4E775-24A1-89EB-A419-D0CA419D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50859-9280-763A-42AD-C6026A79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3680-74C9-4B88-8AAE-F42AB3C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561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1738D-550D-F382-3899-156896F45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7543A-1F66-EF86-BDA8-8E573AB37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55936-9ED7-F967-E25D-59EA29144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081A1-600D-68B6-B080-71A343E2C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D7F9C-9FBC-4E69-A39A-25404EB9B07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5FA3B-1047-FC0F-33EE-5C165C7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CA6C5-FF7A-C3DE-2AB8-B97F4EBC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3680-74C9-4B88-8AAE-F42AB3C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55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77A2B-EC5C-7B56-EA1C-FD92352A8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9CC11-82DC-EC7C-3077-61B7A66BE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9E996-60BC-107E-E18F-13483BD32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60544E-FBC0-E404-B9F5-44A0A0930B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D91F03-0848-919F-55ED-185F29B54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310EAD-D9D2-CDC2-99AE-F3AA46221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D7F9C-9FBC-4E69-A39A-25404EB9B07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F3F037-C311-3D8D-CA62-CBB77F8A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16D2E-AA3A-8FBA-9E81-E6BE634AE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3680-74C9-4B88-8AAE-F42AB3C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014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AE5CE-29B5-FB9C-27FB-1542F0524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4B4327-8ED0-C3A3-942A-F6C5C051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D7F9C-9FBC-4E69-A39A-25404EB9B07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219B5-3779-9A3A-B052-4D0FDB711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BE76A-E53B-129B-4C76-97EA44FE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3680-74C9-4B88-8AAE-F42AB3C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334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750D6A-46FE-7660-FBAF-6E8D774AD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D7F9C-9FBC-4E69-A39A-25404EB9B07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245CBF-8842-DFC6-BA62-A419EA4C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84D8B-0C2E-C276-EADD-7FF2B3ACE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3680-74C9-4B88-8AAE-F42AB3C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02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772FB-7AAA-E516-604B-4921EFB40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23DE8-0119-0967-1B29-022CCD58E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0DA05-085D-C45E-05F2-7FBFD0115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B68FB-94F2-5AD3-2F70-96E7F707F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D7F9C-9FBC-4E69-A39A-25404EB9B07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7B404-DD66-9B0C-E42B-090B566A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6DE83-913E-7A5F-7C8B-82269FF0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3680-74C9-4B88-8AAE-F42AB3C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44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9A8FB-7333-464D-93F0-8A427E8D4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045999-8E2B-B948-D6FE-3321563C29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B3980-9FD6-CB96-B2A7-F21B99251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6A0DC-D3B7-06E2-A5C3-E59E5A029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D7F9C-9FBC-4E69-A39A-25404EB9B07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C78D8-BAE9-73D6-0850-529E5918A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A69EF-8BCB-838B-9116-8C141253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3680-74C9-4B88-8AAE-F42AB3C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318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CBABC-C608-2622-810C-DBA3BECF4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F28B87-9DC0-E367-6899-F51B102E0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5CCFC-DBA9-2AE7-8586-F2999DD79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D7F9C-9FBC-4E69-A39A-25404EB9B07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EE55B-0833-B4CA-E900-7A92BF9A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C0A7B-80E1-AA98-DE12-B4EACABA9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3680-74C9-4B88-8AAE-F42AB3C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829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93B5D0-465B-B020-EAFA-FEF09456A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E7939-7B59-9094-BDDE-6ABE5E98E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D3BD3-6BF4-0754-355A-1CA00A17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D7F9C-9FBC-4E69-A39A-25404EB9B07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20D0B-3B7B-A2D3-A2F5-D10A20461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165B9-63BA-BA24-6BEB-81C19201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3680-74C9-4B88-8AAE-F42AB3C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445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D9DB7BA-3A2F-46BA-A617-2A049434C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93088" y="476251"/>
            <a:ext cx="25603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99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41189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396000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rgbClr val="1A1816"/>
              </a:solidFill>
              <a:latin typeface="+mn-lt"/>
            </a:endParaRPr>
          </a:p>
        </p:txBody>
      </p:sp>
      <p:sp>
        <p:nvSpPr>
          <p:cNvPr id="11" name="FirstDividerHider">
            <a:extLst>
              <a:ext uri="{FF2B5EF4-FFF2-40B4-BE49-F238E27FC236}">
                <a16:creationId xmlns:a16="http://schemas.microsoft.com/office/drawing/2014/main" id="{87C4DFC4-62BA-4C52-B36B-44A75684A81F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5744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9FA25E-B31D-3ED3-FA09-CA1A831B9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9C2D6-251F-9B74-C1F3-C42F82DCF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52A92-E288-DD55-655B-9A95A9670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D7F9C-9FBC-4E69-A39A-25404EB9B07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CBF2B-49F0-04AF-3EE8-1ADF77833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1F8B3-E156-1BF5-352A-B12EDCB2D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33680-74C9-4B88-8AAE-F42AB3CC1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22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fif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fif"/><Relationship Id="rId2" Type="http://schemas.openxmlformats.org/officeDocument/2006/relationships/image" Target="../media/image14.jfi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jfif"/><Relationship Id="rId4" Type="http://schemas.openxmlformats.org/officeDocument/2006/relationships/image" Target="../media/image16.jf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fi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cean floor&#10;&#10;Description automatically generated">
            <a:extLst>
              <a:ext uri="{FF2B5EF4-FFF2-40B4-BE49-F238E27FC236}">
                <a16:creationId xmlns:a16="http://schemas.microsoft.com/office/drawing/2014/main" id="{AED1AC88-E4E7-4C77-8868-9B68FD31A9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itle 7">
            <a:extLst>
              <a:ext uri="{FF2B5EF4-FFF2-40B4-BE49-F238E27FC236}">
                <a16:creationId xmlns:a16="http://schemas.microsoft.com/office/drawing/2014/main" id="{9D1603A8-B106-49C8-9A85-772F771CEA7B}"/>
              </a:ext>
            </a:extLst>
          </p:cNvPr>
          <p:cNvSpPr txBox="1">
            <a:spLocks/>
          </p:cNvSpPr>
          <p:nvPr/>
        </p:nvSpPr>
        <p:spPr>
          <a:xfrm>
            <a:off x="479425" y="476250"/>
            <a:ext cx="9721850" cy="314325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defRPr sz="4000" kern="1400" spc="-16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2pPr>
            <a:lvl3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3pPr>
            <a:lvl4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4pPr>
            <a:lvl5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Ericsson Hild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Ericsson Hilda" pitchFamily="2" charset="0"/>
              </a:defRPr>
            </a:lvl9pPr>
          </a:lstStyle>
          <a:p>
            <a:pPr marL="0" indent="0" algn="l">
              <a:spcBef>
                <a:spcPts val="800"/>
              </a:spcBef>
              <a:buNone/>
            </a:pPr>
            <a:r>
              <a:rPr lang="en-US" sz="8000" dirty="0"/>
              <a:t>SDU BOS – Monetization Asset Snippet</a:t>
            </a:r>
          </a:p>
          <a:p>
            <a:pPr marL="0" indent="0" algn="l">
              <a:spcBef>
                <a:spcPts val="800"/>
              </a:spcBef>
              <a:buNone/>
            </a:pPr>
            <a:endParaRPr lang="en-US" sz="8000" dirty="0">
              <a:solidFill>
                <a:schemeClr val="tx1"/>
              </a:solidFill>
              <a:latin typeface="+mj-lt"/>
            </a:endParaRPr>
          </a:p>
          <a:p>
            <a:pPr marL="0" indent="0" algn="l">
              <a:spcBef>
                <a:spcPts val="800"/>
              </a:spcBef>
              <a:buNone/>
            </a:pPr>
            <a:r>
              <a:rPr lang="en-US" sz="3200" dirty="0"/>
              <a:t>Feb – 2026</a:t>
            </a:r>
          </a:p>
          <a:p>
            <a:pPr marL="0" indent="0" algn="l">
              <a:spcBef>
                <a:spcPts val="800"/>
              </a:spcBef>
              <a:buNone/>
            </a:pPr>
            <a:endParaRPr lang="en-US" sz="8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2" name="image">
            <a:extLst>
              <a:ext uri="{FF2B5EF4-FFF2-40B4-BE49-F238E27FC236}">
                <a16:creationId xmlns:a16="http://schemas.microsoft.com/office/drawing/2014/main" id="{123626AC-1355-4AB8-B034-146B7B48F9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897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40F85D7-01CB-F39E-B802-8EDA2E2F4FAE}"/>
              </a:ext>
            </a:extLst>
          </p:cNvPr>
          <p:cNvSpPr txBox="1">
            <a:spLocks/>
          </p:cNvSpPr>
          <p:nvPr/>
        </p:nvSpPr>
        <p:spPr bwMode="auto">
          <a:xfrm>
            <a:off x="838200" y="184805"/>
            <a:ext cx="10515600" cy="1505883"/>
          </a:xfrm>
          <a:prstGeom prst="rect">
            <a:avLst/>
          </a:prstGeom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2026 Asset Reuse Savings - Hours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8FAF2AA-7BED-40D7-9CDC-1471A91FC8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2080169"/>
              </p:ext>
            </p:extLst>
          </p:nvPr>
        </p:nvGraphicFramePr>
        <p:xfrm>
          <a:off x="838200" y="1845426"/>
          <a:ext cx="10512547" cy="4450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9453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269940-6F27-A703-84D7-5D46F64A1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2026 Asset Reuse Savings - Percentage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1BE15A0-757F-48C6-9585-4552605A8D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8172953"/>
              </p:ext>
            </p:extLst>
          </p:nvPr>
        </p:nvGraphicFramePr>
        <p:xfrm>
          <a:off x="838200" y="1845426"/>
          <a:ext cx="10512547" cy="4450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854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2018E1B-E0B9-4440-AFF3-4112E50A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D335CE2-149B-9ED5-E2DD-48540435F2FB}"/>
              </a:ext>
            </a:extLst>
          </p:cNvPr>
          <p:cNvSpPr txBox="1">
            <a:spLocks/>
          </p:cNvSpPr>
          <p:nvPr/>
        </p:nvSpPr>
        <p:spPr bwMode="auto">
          <a:xfrm>
            <a:off x="838200" y="557191"/>
            <a:ext cx="10515600" cy="2217174"/>
          </a:xfrm>
          <a:prstGeom prst="rect">
            <a:avLst/>
          </a:prstGeom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Asset Users Charging – Feb 2026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58B0A4-FAEE-6F75-FCF4-F36CE83D2D4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09" r="12007" b="-1"/>
          <a:stretch>
            <a:fillRect/>
          </a:stretch>
        </p:blipFill>
        <p:spPr>
          <a:xfrm>
            <a:off x="262194" y="2197422"/>
            <a:ext cx="2255462" cy="31552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926DE93-C608-E997-01E5-98F97BFC6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" r="7953" b="-1"/>
          <a:stretch>
            <a:fillRect/>
          </a:stretch>
        </p:blipFill>
        <p:spPr>
          <a:xfrm>
            <a:off x="2653332" y="2197422"/>
            <a:ext cx="2255462" cy="31552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2CFE8A-14A1-7504-5B2B-47181BE675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66" r="8545" b="-1"/>
          <a:stretch>
            <a:fillRect/>
          </a:stretch>
        </p:blipFill>
        <p:spPr>
          <a:xfrm>
            <a:off x="5044469" y="2197422"/>
            <a:ext cx="2255462" cy="31552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CFCE75-AB36-439D-357C-74B526C694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5" r="6339" b="-1"/>
          <a:stretch>
            <a:fillRect/>
          </a:stretch>
        </p:blipFill>
        <p:spPr>
          <a:xfrm>
            <a:off x="7435607" y="2197422"/>
            <a:ext cx="2255462" cy="31552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59EE60-E9D9-01FD-D267-969D7CB6D5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3" r="9818" b="4"/>
          <a:stretch>
            <a:fillRect/>
          </a:stretch>
        </p:blipFill>
        <p:spPr>
          <a:xfrm>
            <a:off x="9826745" y="2197422"/>
            <a:ext cx="2255462" cy="315523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5A6B5A9-15F8-35FE-A6CC-2D2D4AA0EC32}"/>
              </a:ext>
            </a:extLst>
          </p:cNvPr>
          <p:cNvSpPr txBox="1"/>
          <p:nvPr/>
        </p:nvSpPr>
        <p:spPr>
          <a:xfrm>
            <a:off x="555171" y="5649686"/>
            <a:ext cx="1662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808080"/>
                </a:highlight>
              </a:rPr>
              <a:t>Amit Kumar QQ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8544FD-13C7-3981-75D3-65A8C0245BA2}"/>
              </a:ext>
            </a:extLst>
          </p:cNvPr>
          <p:cNvSpPr txBox="1"/>
          <p:nvPr/>
        </p:nvSpPr>
        <p:spPr>
          <a:xfrm>
            <a:off x="2862942" y="5649686"/>
            <a:ext cx="1528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808080"/>
                </a:highlight>
              </a:rPr>
              <a:t>Udayakumar 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233D47-926D-55DA-1B74-A0BFCB737D8E}"/>
              </a:ext>
            </a:extLst>
          </p:cNvPr>
          <p:cNvSpPr txBox="1"/>
          <p:nvPr/>
        </p:nvSpPr>
        <p:spPr>
          <a:xfrm>
            <a:off x="5330227" y="5714609"/>
            <a:ext cx="205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808080"/>
                </a:highlight>
              </a:rPr>
              <a:t>Sudhanshu B Dubey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B305CB-0916-F61E-0B26-C6128A0A71D6}"/>
              </a:ext>
            </a:extLst>
          </p:cNvPr>
          <p:cNvSpPr txBox="1"/>
          <p:nvPr/>
        </p:nvSpPr>
        <p:spPr>
          <a:xfrm>
            <a:off x="8026757" y="5649686"/>
            <a:ext cx="1445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808080"/>
                </a:highlight>
              </a:rPr>
              <a:t>Yaser Majeed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7ED3A4-EA24-6FEF-D683-1389D70BFD79}"/>
              </a:ext>
            </a:extLst>
          </p:cNvPr>
          <p:cNvSpPr txBox="1"/>
          <p:nvPr/>
        </p:nvSpPr>
        <p:spPr>
          <a:xfrm>
            <a:off x="10299887" y="5660181"/>
            <a:ext cx="1445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ighlight>
                  <a:srgbClr val="808080"/>
                </a:highlight>
              </a:rPr>
              <a:t>Ateesh Varun</a:t>
            </a:r>
            <a:endParaRPr lang="en-US" dirty="0">
              <a:highlight>
                <a:srgbClr val="8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58167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2018E1B-E0B9-4440-AFF3-4112E50A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AA49A42-9C7C-6D64-CCA2-8A0870324750}"/>
              </a:ext>
            </a:extLst>
          </p:cNvPr>
          <p:cNvSpPr txBox="1">
            <a:spLocks/>
          </p:cNvSpPr>
          <p:nvPr/>
        </p:nvSpPr>
        <p:spPr bwMode="auto">
          <a:xfrm>
            <a:off x="838200" y="557191"/>
            <a:ext cx="10515600" cy="2217174"/>
          </a:xfrm>
          <a:prstGeom prst="rect">
            <a:avLst/>
          </a:prstGeom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Asset Users Billing – Feb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C5C1AB-1605-DE2F-CC49-7F4594D62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0" r="6119" b="-1"/>
          <a:stretch>
            <a:fillRect/>
          </a:stretch>
        </p:blipFill>
        <p:spPr>
          <a:xfrm>
            <a:off x="184558" y="2255340"/>
            <a:ext cx="2255462" cy="31552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E749A4-4DB6-917D-E1AA-734D36F11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08" r="15008" b="-1"/>
          <a:stretch>
            <a:fillRect/>
          </a:stretch>
        </p:blipFill>
        <p:spPr>
          <a:xfrm>
            <a:off x="2575696" y="2255340"/>
            <a:ext cx="2255462" cy="31552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9E6AAD-4868-AD0D-87CC-4241E2E6D1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8" r="5452" b="-3"/>
          <a:stretch>
            <a:fillRect/>
          </a:stretch>
        </p:blipFill>
        <p:spPr>
          <a:xfrm>
            <a:off x="4966833" y="2255340"/>
            <a:ext cx="2255462" cy="31552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E3FDCF-C81A-F621-5ED5-CD827CAE27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1" r="-1" b="16130"/>
          <a:stretch>
            <a:fillRect/>
          </a:stretch>
        </p:blipFill>
        <p:spPr>
          <a:xfrm>
            <a:off x="7357971" y="2255340"/>
            <a:ext cx="2255462" cy="31552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BB81A4-AEE3-42C6-0982-3BDCDC0C5E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4" r="15632" b="-1"/>
          <a:stretch>
            <a:fillRect/>
          </a:stretch>
        </p:blipFill>
        <p:spPr>
          <a:xfrm>
            <a:off x="9749109" y="2255340"/>
            <a:ext cx="2255462" cy="315523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2F8DD36-A5FE-5091-22CE-D14E6173B43A}"/>
              </a:ext>
            </a:extLst>
          </p:cNvPr>
          <p:cNvSpPr txBox="1"/>
          <p:nvPr/>
        </p:nvSpPr>
        <p:spPr>
          <a:xfrm>
            <a:off x="91442" y="5580291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808080"/>
                </a:highlight>
              </a:rPr>
              <a:t>Suparba</a:t>
            </a:r>
            <a:r>
              <a:rPr lang="en-US" dirty="0">
                <a:highlight>
                  <a:srgbClr val="808080"/>
                </a:highlight>
              </a:rPr>
              <a:t> Roy Mahapatra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447EC9-F296-7745-96C4-A341DE30E1A6}"/>
              </a:ext>
            </a:extLst>
          </p:cNvPr>
          <p:cNvSpPr txBox="1"/>
          <p:nvPr/>
        </p:nvSpPr>
        <p:spPr>
          <a:xfrm>
            <a:off x="2482580" y="5580291"/>
            <a:ext cx="2473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808080"/>
                </a:highlight>
              </a:rPr>
              <a:t>Prashant Kumar Gupta 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5E6D10-15E5-0F73-5C86-7F6485B3D1FD}"/>
              </a:ext>
            </a:extLst>
          </p:cNvPr>
          <p:cNvSpPr txBox="1"/>
          <p:nvPr/>
        </p:nvSpPr>
        <p:spPr>
          <a:xfrm>
            <a:off x="5155198" y="5543553"/>
            <a:ext cx="1988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808080"/>
                </a:highlight>
              </a:rPr>
              <a:t>N Sudarvanna Pillai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FE92F0-A684-5A62-E390-F606D950121F}"/>
              </a:ext>
            </a:extLst>
          </p:cNvPr>
          <p:cNvSpPr txBox="1"/>
          <p:nvPr/>
        </p:nvSpPr>
        <p:spPr>
          <a:xfrm>
            <a:off x="7357971" y="5543553"/>
            <a:ext cx="198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808080"/>
                </a:highlight>
              </a:rPr>
              <a:t>Thota Arun Kumar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B696BC-ECEA-691F-689B-CE9C3EBC22F8}"/>
              </a:ext>
            </a:extLst>
          </p:cNvPr>
          <p:cNvSpPr txBox="1"/>
          <p:nvPr/>
        </p:nvSpPr>
        <p:spPr>
          <a:xfrm>
            <a:off x="10016206" y="5543553"/>
            <a:ext cx="198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808080"/>
                </a:highlight>
              </a:rPr>
              <a:t>Badal Chandra Das</a:t>
            </a:r>
          </a:p>
        </p:txBody>
      </p:sp>
    </p:spTree>
    <p:extLst>
      <p:ext uri="{BB962C8B-B14F-4D97-AF65-F5344CB8AC3E}">
        <p14:creationId xmlns:p14="http://schemas.microsoft.com/office/powerpoint/2010/main" val="1642597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34F98-0970-1FAF-A078-AB192E44F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34D2E-5884-00F2-CA45-3B3D85149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9897"/>
            <a:ext cx="9122228" cy="8418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Asset Users SDC </a:t>
            </a:r>
            <a:r>
              <a:rPr lang="en-US" sz="3200" b="1" dirty="0"/>
              <a:t>CS&amp;DFE – Feb 2026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27EAED-6752-69BB-B4E4-C92E462CF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" b="17983"/>
          <a:stretch>
            <a:fillRect/>
          </a:stretch>
        </p:blipFill>
        <p:spPr>
          <a:xfrm>
            <a:off x="2632843" y="2587508"/>
            <a:ext cx="2532579" cy="20772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5232D51-C013-D734-E344-81F3511A5152}"/>
              </a:ext>
            </a:extLst>
          </p:cNvPr>
          <p:cNvSpPr txBox="1"/>
          <p:nvPr/>
        </p:nvSpPr>
        <p:spPr>
          <a:xfrm>
            <a:off x="3516026" y="4767943"/>
            <a:ext cx="188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808080"/>
                </a:highlight>
              </a:rPr>
              <a:t>Shilpi Srivastava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8E2E28-D655-CB50-DACF-375A8AA38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204" y="2587507"/>
            <a:ext cx="2077256" cy="20772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76BAA0-D5F9-D274-3655-EC498DA608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160" y="2587507"/>
            <a:ext cx="2077256" cy="20772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CBAC7F-30CD-0C6B-206A-4B3EA04B13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24" y="2563916"/>
            <a:ext cx="2100848" cy="21008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A3D74D-90A5-15CF-1019-58BD8EB5B0B0}"/>
              </a:ext>
            </a:extLst>
          </p:cNvPr>
          <p:cNvSpPr txBox="1"/>
          <p:nvPr/>
        </p:nvSpPr>
        <p:spPr>
          <a:xfrm>
            <a:off x="632815" y="4767943"/>
            <a:ext cx="2000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808080"/>
                </a:highlight>
              </a:rPr>
              <a:t>Anshu Jaiswal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0B4831-7F1F-33AA-8F04-732ABC11F723}"/>
              </a:ext>
            </a:extLst>
          </p:cNvPr>
          <p:cNvSpPr txBox="1"/>
          <p:nvPr/>
        </p:nvSpPr>
        <p:spPr>
          <a:xfrm>
            <a:off x="5604215" y="4772838"/>
            <a:ext cx="2000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highlight>
                  <a:srgbClr val="808080"/>
                </a:highlight>
              </a:rPr>
              <a:t>Padmendra</a:t>
            </a:r>
            <a:r>
              <a:rPr lang="en-US" dirty="0">
                <a:highlight>
                  <a:srgbClr val="808080"/>
                </a:highlight>
              </a:rPr>
              <a:t> </a:t>
            </a:r>
            <a:r>
              <a:rPr lang="en-US" dirty="0" err="1">
                <a:highlight>
                  <a:srgbClr val="808080"/>
                </a:highlight>
              </a:rPr>
              <a:t>Sengar</a:t>
            </a:r>
            <a:endParaRPr lang="en-US" dirty="0">
              <a:highlight>
                <a:srgbClr val="80808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2BF5B6-5D91-803E-70F1-2C2B53B9DAB7}"/>
              </a:ext>
            </a:extLst>
          </p:cNvPr>
          <p:cNvSpPr txBox="1"/>
          <p:nvPr/>
        </p:nvSpPr>
        <p:spPr>
          <a:xfrm>
            <a:off x="7670588" y="4767943"/>
            <a:ext cx="188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808080"/>
                </a:highlight>
              </a:rPr>
              <a:t>Savita Choudhary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4B2FA9-D16F-BA00-3288-53373F02CED8}"/>
              </a:ext>
            </a:extLst>
          </p:cNvPr>
          <p:cNvSpPr txBox="1"/>
          <p:nvPr/>
        </p:nvSpPr>
        <p:spPr>
          <a:xfrm>
            <a:off x="10580915" y="4767943"/>
            <a:ext cx="1461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808080"/>
                </a:highlight>
              </a:rPr>
              <a:t>Aruna .</a:t>
            </a:r>
          </a:p>
        </p:txBody>
      </p:sp>
    </p:spTree>
    <p:extLst>
      <p:ext uri="{BB962C8B-B14F-4D97-AF65-F5344CB8AC3E}">
        <p14:creationId xmlns:p14="http://schemas.microsoft.com/office/powerpoint/2010/main" val="481843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8BD6D-62FC-EF4A-2E1A-E545653CE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9897"/>
            <a:ext cx="9122228" cy="8418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Asset Users</a:t>
            </a:r>
            <a:r>
              <a:rPr lang="en-US" sz="3200" b="1" dirty="0"/>
              <a:t> SDC </a:t>
            </a:r>
            <a:r>
              <a:rPr lang="en-US" sz="3200" b="1" dirty="0" err="1"/>
              <a:t>Billing&amp;MW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8652A3-AFED-A90B-6F84-369B0E112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6DF9B9-D656-5EE0-633D-C514F8690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21157A3-8C94-5AE3-E582-EEBDE9322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0EBE040-9924-032F-BE75-61AC1B64DC0C}"/>
              </a:ext>
            </a:extLst>
          </p:cNvPr>
          <p:cNvSpPr txBox="1"/>
          <p:nvPr/>
        </p:nvSpPr>
        <p:spPr>
          <a:xfrm>
            <a:off x="1548132" y="4861835"/>
            <a:ext cx="1703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Manish Kumar S</a:t>
            </a:r>
            <a:endParaRPr lang="en-US" dirty="0">
              <a:highlight>
                <a:srgbClr val="80808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10D590-9A79-268E-C009-CC1D7DBF0025}"/>
              </a:ext>
            </a:extLst>
          </p:cNvPr>
          <p:cNvSpPr txBox="1"/>
          <p:nvPr/>
        </p:nvSpPr>
        <p:spPr>
          <a:xfrm>
            <a:off x="4557598" y="4861835"/>
            <a:ext cx="1583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Santanu Sadhu</a:t>
            </a:r>
            <a:endParaRPr lang="en-US" dirty="0">
              <a:highlight>
                <a:srgbClr val="808080"/>
              </a:highlight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25D3D5-CEEF-72F2-4D64-A6809881D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1865561"/>
            <a:ext cx="2979964" cy="29799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79C3EC0-95F2-7234-3890-6A84DC9B0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064" y="1865561"/>
            <a:ext cx="2237736" cy="298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243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object 2">
            <a:extLst>
              <a:ext uri="{FF2B5EF4-FFF2-40B4-BE49-F238E27FC236}">
                <a16:creationId xmlns:a16="http://schemas.microsoft.com/office/drawing/2014/main" id="{64B0B3F6-8758-400A-98E9-356C45B6CEE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1" name="object 3">
              <a:extLst>
                <a:ext uri="{FF2B5EF4-FFF2-40B4-BE49-F238E27FC236}">
                  <a16:creationId xmlns:a16="http://schemas.microsoft.com/office/drawing/2014/main" id="{DC68F8FB-372A-439C-91EB-8A1F1172E91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2" name="object 4">
              <a:extLst>
                <a:ext uri="{FF2B5EF4-FFF2-40B4-BE49-F238E27FC236}">
                  <a16:creationId xmlns:a16="http://schemas.microsoft.com/office/drawing/2014/main" id="{413A6582-3A0E-4844-A5F9-C0ADEE30DE6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1027" y="477248"/>
              <a:ext cx="194448" cy="260255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3966B80-DA9B-4BF4-8A02-F7D22715DD75}"/>
              </a:ext>
            </a:extLst>
          </p:cNvPr>
          <p:cNvSpPr txBox="1"/>
          <p:nvPr/>
        </p:nvSpPr>
        <p:spPr>
          <a:xfrm>
            <a:off x="1480457" y="2394857"/>
            <a:ext cx="9437914" cy="2122714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2465C6-6FB2-431D-911F-4A9E455659B3}"/>
              </a:ext>
            </a:extLst>
          </p:cNvPr>
          <p:cNvSpPr txBox="1"/>
          <p:nvPr/>
        </p:nvSpPr>
        <p:spPr>
          <a:xfrm>
            <a:off x="1012371" y="2394857"/>
            <a:ext cx="9906000" cy="1323439"/>
          </a:xfrm>
          <a:prstGeom prst="rect">
            <a:avLst/>
          </a:prstGeom>
          <a:noFill/>
          <a:ln w="28575" cmpd="thickThin"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marL="12700" indent="0" algn="ctr">
              <a:spcBef>
                <a:spcPts val="95"/>
              </a:spcBef>
              <a:buNone/>
            </a:pPr>
            <a:r>
              <a:rPr lang="en-US" sz="8000" kern="1400" spc="-10">
                <a:solidFill>
                  <a:srgbClr val="FFFFFF"/>
                </a:solidFill>
                <a:latin typeface="Ericsson Hilda" panose="00000500000000000000" pitchFamily="2" charset="0"/>
                <a:ea typeface="+mj-ea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445952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766192086109821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2e84ceb-fbfd-47ab-be52-080c6b87953f}" enabled="0" method="" siteId="{92e84ceb-fbfd-47ab-be52-080c6b8795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29992</TotalTime>
  <Words>107</Words>
  <Application>Microsoft Office PowerPoint</Application>
  <PresentationFormat>Widescreen</PresentationFormat>
  <Paragraphs>32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Ericsson Hilda</vt:lpstr>
      <vt:lpstr>Office Theme</vt:lpstr>
      <vt:lpstr>PowerPoint Presentation</vt:lpstr>
      <vt:lpstr>PowerPoint Presentation</vt:lpstr>
      <vt:lpstr>2026 Asset Reuse Savings - Percentage</vt:lpstr>
      <vt:lpstr>PowerPoint Presentation</vt:lpstr>
      <vt:lpstr>PowerPoint Presentation</vt:lpstr>
      <vt:lpstr>Top Asset Users SDC CS&amp;DFE – Feb 2026</vt:lpstr>
      <vt:lpstr>Top Asset Users SDC Billing&amp;MW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 Siva X</dc:creator>
  <cp:lastModifiedBy>R Siva X</cp:lastModifiedBy>
  <cp:revision>10</cp:revision>
  <cp:lastPrinted>2024-06-19T13:19:42Z</cp:lastPrinted>
  <dcterms:created xsi:type="dcterms:W3CDTF">2024-02-01T11:41:45Z</dcterms:created>
  <dcterms:modified xsi:type="dcterms:W3CDTF">2026-07-07T04:54:16Z</dcterms:modified>
</cp:coreProperties>
</file>